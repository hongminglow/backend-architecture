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e645b3d5624c9b" /><Relationship Type="http://schemas.openxmlformats.org/officeDocument/2006/relationships/extended-properties" Target="/docProps/app.xml" Id="R2f66d1cf67214461" /><Relationship Type="http://schemas.openxmlformats.org/officeDocument/2006/relationships/officeDocument" Target="/ppt/presentation.xml" Id="R39e084a1c2574d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f75ac9839c4769"/>
  </p:sldMasterIdLst>
  <p:notesMasterIdLst>
    <p:notesMasterId xmlns:r="http://schemas.openxmlformats.org/officeDocument/2006/relationships" r:id="R8db4c178a01545d6"/>
  </p:notesMasterIdLst>
  <p:sldIdLst>
    <p:sldId xmlns:r="http://schemas.openxmlformats.org/officeDocument/2006/relationships" id="256" r:id="Re8d8a50fd95347cb"/>
    <p:sldId xmlns:r="http://schemas.openxmlformats.org/officeDocument/2006/relationships" id="257" r:id="R7d0b712c62a04494"/>
    <p:sldId xmlns:r="http://schemas.openxmlformats.org/officeDocument/2006/relationships" id="258" r:id="Rfc5603c31dd24ef1"/>
    <p:sldId xmlns:r="http://schemas.openxmlformats.org/officeDocument/2006/relationships" id="259" r:id="R5154174c0a824b25"/>
    <p:sldId xmlns:r="http://schemas.openxmlformats.org/officeDocument/2006/relationships" id="260" r:id="R217f32a7ab1541cf"/>
    <p:sldId xmlns:r="http://schemas.openxmlformats.org/officeDocument/2006/relationships" id="261" r:id="Rc970f9e6bd7242fc"/>
    <p:sldId xmlns:r="http://schemas.openxmlformats.org/officeDocument/2006/relationships" id="262" r:id="Racab47283e2f40c5"/>
    <p:sldId xmlns:r="http://schemas.openxmlformats.org/officeDocument/2006/relationships" id="263" r:id="Reca982382b31493c"/>
    <p:sldId xmlns:r="http://schemas.openxmlformats.org/officeDocument/2006/relationships" id="264" r:id="R70151c6cc88b467d"/>
    <p:sldId xmlns:r="http://schemas.openxmlformats.org/officeDocument/2006/relationships" id="265" r:id="Rb31a207eff104dc2"/>
    <p:sldId xmlns:r="http://schemas.openxmlformats.org/officeDocument/2006/relationships" id="266" r:id="R2a7bd42fb3be4ee2"/>
    <p:sldId xmlns:r="http://schemas.openxmlformats.org/officeDocument/2006/relationships" id="267" r:id="R2771a087528343a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f75ac9839c4769" /><Relationship Type="http://schemas.openxmlformats.org/officeDocument/2006/relationships/theme" Target="/ppt/theme/theme1.xml" Id="Rda1b56ddcda7459f" /><Relationship Type="http://schemas.openxmlformats.org/officeDocument/2006/relationships/notesMaster" Target="/ppt/notesMasters/notesMaster1.xml" Id="R8db4c178a01545d6" /><Relationship Type="http://schemas.openxmlformats.org/officeDocument/2006/relationships/presProps" Target="/ppt/presProps.xml" Id="R865f392537c94167" /><Relationship Type="http://schemas.openxmlformats.org/officeDocument/2006/relationships/viewProps" Target="/ppt/viewProps.xml" Id="Red988da32c864030" /><Relationship Type="http://schemas.openxmlformats.org/officeDocument/2006/relationships/tableStyles" Target="/ppt/tableStyles.xml" Id="Ra2f301d1634b4835" /><Relationship Type="http://schemas.openxmlformats.org/officeDocument/2006/relationships/slide" Target="/ppt/slides/slide1.xml" Id="Re8d8a50fd95347cb" /><Relationship Type="http://schemas.openxmlformats.org/officeDocument/2006/relationships/slide" Target="/ppt/slides/slide2.xml" Id="R7d0b712c62a04494" /><Relationship Type="http://schemas.openxmlformats.org/officeDocument/2006/relationships/slide" Target="/ppt/slides/slide3.xml" Id="Rfc5603c31dd24ef1" /><Relationship Type="http://schemas.openxmlformats.org/officeDocument/2006/relationships/slide" Target="/ppt/slides/slide4.xml" Id="R5154174c0a824b25" /><Relationship Type="http://schemas.openxmlformats.org/officeDocument/2006/relationships/slide" Target="/ppt/slides/slide5.xml" Id="R217f32a7ab1541cf" /><Relationship Type="http://schemas.openxmlformats.org/officeDocument/2006/relationships/slide" Target="/ppt/slides/slide6.xml" Id="Rc970f9e6bd7242fc" /><Relationship Type="http://schemas.openxmlformats.org/officeDocument/2006/relationships/slide" Target="/ppt/slides/slide7.xml" Id="Racab47283e2f40c5" /><Relationship Type="http://schemas.openxmlformats.org/officeDocument/2006/relationships/slide" Target="/ppt/slides/slide8.xml" Id="Reca982382b31493c" /><Relationship Type="http://schemas.openxmlformats.org/officeDocument/2006/relationships/slide" Target="/ppt/slides/slide9.xml" Id="R70151c6cc88b467d" /><Relationship Type="http://schemas.openxmlformats.org/officeDocument/2006/relationships/slide" Target="/ppt/slides/slide10.xml" Id="Rb31a207eff104dc2" /><Relationship Type="http://schemas.openxmlformats.org/officeDocument/2006/relationships/slide" Target="/ppt/slides/slide11.xml" Id="R2a7bd42fb3be4ee2" /><Relationship Type="http://schemas.openxmlformats.org/officeDocument/2006/relationships/slide" Target="/ppt/slides/slide12.xml" Id="R2771a087528343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afc6269bf844b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9b355286c94a9b" /><Relationship Type="http://schemas.openxmlformats.org/officeDocument/2006/relationships/notesMaster" Target="/ppt/notesMasters/notesMaster1.xml" Id="Rc77ed44e252546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af3002ffd5469f" /><Relationship Type="http://schemas.openxmlformats.org/officeDocument/2006/relationships/notesMaster" Target="/ppt/notesMasters/notesMaster1.xml" Id="Re9af4b2701c140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9d3495997a4d62" /><Relationship Type="http://schemas.openxmlformats.org/officeDocument/2006/relationships/notesMaster" Target="/ppt/notesMasters/notesMaster1.xml" Id="R95f2837d31a140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1cc246fec74392" /><Relationship Type="http://schemas.openxmlformats.org/officeDocument/2006/relationships/notesMaster" Target="/ppt/notesMasters/notesMaster1.xml" Id="R98fc12e1ad544d0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04afc4bfaf4919" /><Relationship Type="http://schemas.openxmlformats.org/officeDocument/2006/relationships/notesMaster" Target="/ppt/notesMasters/notesMaster1.xml" Id="R72337ec2e17148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a3a559632f64578" /><Relationship Type="http://schemas.openxmlformats.org/officeDocument/2006/relationships/notesMaster" Target="/ppt/notesMasters/notesMaster1.xml" Id="R8a9db5b61e0d45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0b57fd1d5df42a8" /><Relationship Type="http://schemas.openxmlformats.org/officeDocument/2006/relationships/notesMaster" Target="/ppt/notesMasters/notesMaster1.xml" Id="R18b6dc32504c4b3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2e6c41155b24f66" /><Relationship Type="http://schemas.openxmlformats.org/officeDocument/2006/relationships/notesMaster" Target="/ppt/notesMasters/notesMaster1.xml" Id="R71e4e5961f4f470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80189fcbdf14526" /><Relationship Type="http://schemas.openxmlformats.org/officeDocument/2006/relationships/notesMaster" Target="/ppt/notesMasters/notesMaster1.xml" Id="R6ab8b32757b54a6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1325daae8ce4e4f" /><Relationship Type="http://schemas.openxmlformats.org/officeDocument/2006/relationships/notesMaster" Target="/ppt/notesMasters/notesMaster1.xml" Id="R5da4f292e6754a9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33ffe12f4854f42" /><Relationship Type="http://schemas.openxmlformats.org/officeDocument/2006/relationships/notesMaster" Target="/ppt/notesMasters/notesMaster1.xml" Id="Recb1a2e85d624e3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970d71cfb7644ad" /><Relationship Type="http://schemas.openxmlformats.org/officeDocument/2006/relationships/notesMaster" Target="/ppt/notesMasters/notesMaster1.xml" Id="Rc8cb4eb845db4c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6ce56f765c480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97716270bd847ad" /><Relationship Type="http://schemas.openxmlformats.org/officeDocument/2006/relationships/slideLayout" Target="/ppt/slideLayouts/slideLayout2.xml" Id="R8e1a2483b86e4c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1a2483b86e4c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4e5393bbc64d7a" /><Relationship Type="http://schemas.openxmlformats.org/officeDocument/2006/relationships/notesSlide" Target="/ppt/notesSlides/notesSlide1.xml" Id="R6c3aebebe4ba41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c71376b1404802" /><Relationship Type="http://schemas.openxmlformats.org/officeDocument/2006/relationships/notesSlide" Target="/ppt/notesSlides/notesSlide2.xml" Id="R96e3a20f0e1340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10481957f644f9" /><Relationship Type="http://schemas.openxmlformats.org/officeDocument/2006/relationships/notesSlide" Target="/ppt/notesSlides/notesSlide3.xml" Id="R313040db47b34f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b81d928ab94bd4" /><Relationship Type="http://schemas.openxmlformats.org/officeDocument/2006/relationships/notesSlide" Target="/ppt/notesSlides/notesSlide4.xml" Id="Rbf0c1f3670284a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5136419dd44ffb" /><Relationship Type="http://schemas.openxmlformats.org/officeDocument/2006/relationships/notesSlide" Target="/ppt/notesSlides/notesSlide5.xml" Id="R14bc032e0a224f1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6d7970bdb24d82" /><Relationship Type="http://schemas.openxmlformats.org/officeDocument/2006/relationships/notesSlide" Target="/ppt/notesSlides/notesSlide6.xml" Id="Re991185f4b1a487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f8e55dbb42460c" /><Relationship Type="http://schemas.openxmlformats.org/officeDocument/2006/relationships/notesSlide" Target="/ppt/notesSlides/notesSlide7.xml" Id="R233fd76f50a944e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a6f556628c4bc0" /><Relationship Type="http://schemas.openxmlformats.org/officeDocument/2006/relationships/notesSlide" Target="/ppt/notesSlides/notesSlide8.xml" Id="R309b077fea4b4de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84e72d62c64a5a" /><Relationship Type="http://schemas.openxmlformats.org/officeDocument/2006/relationships/notesSlide" Target="/ppt/notesSlides/notesSlide9.xml" Id="R642f8d3721664b8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6647552ee04052" /><Relationship Type="http://schemas.openxmlformats.org/officeDocument/2006/relationships/notesSlide" Target="/ppt/notesSlides/notesSlide10.xml" Id="Rfeafe3426d924ae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6add4b815841be" /><Relationship Type="http://schemas.openxmlformats.org/officeDocument/2006/relationships/notesSlide" Target="/ppt/notesSlides/notesSlide11.xml" Id="Rb9e169a18dcb4e5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d6ab241f344c82" /><Relationship Type="http://schemas.openxmlformats.org/officeDocument/2006/relationships/notesSlide" Target="/ppt/notesSlides/notesSlide12.xml" Id="R0a4ce1cb2362410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B1F351-91E9-405D-9358-F3B5DB19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7F1D02-80D2-44D2-AD87-90CCB6C0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F3A147-4355-4A7F-ACD8-9A8D5C852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2327D9-65B7-4DF8-BD97-B4CD3255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EBC065-2CF6-4419-BCCF-EFB23EBA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4A3B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4A3B8"/>
                </a:solidFill>
                <a:latin typeface="Aptos Mono"/>
                <a:ea typeface="Aptos Mono"/>
                <a:cs typeface="Aptos Mono"/>
              </a:rPr>
              <a:t>ARCHITECTURE NARRATIVE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72A550-2206-4472-A434-CCD2A540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742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A local-first backend lab that makes scale claims testable.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D72A12-1A91-45F0-BDEA-16C6AE90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838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Editable deck covering each architecture decision, why it exists, tradeoffs, and how the MVP verifies 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BD05EF-0EB8-43B8-8C9B-B33ECD36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00300"/>
            <a:ext cx="3143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7E28C9-C246-490C-A034-1714C7E3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00300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F6170A-D34B-4E64-9E50-478E9113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90800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What this 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9DA27D-A775-48D7-8990-0991B770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14650"/>
            <a:ext cx="27432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 compact order-processing workload that exercises auth, writes, reads, cache, broker, workers, migrations, and observability.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383089-5903-4489-B178-2183842E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00300"/>
            <a:ext cx="3143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7C30CD-C9D2-4F0F-8C05-60AA7EBA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00300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6790F9-B009-4D4E-B9DE-8857CE01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90800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What this is not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676A18-20BA-48E7-9F13-9D8ED4C0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14650"/>
            <a:ext cx="27432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Not a production order product. The order domain is the testing surface for backend strategies.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7CE3F8-4CEF-4365-89BD-C68B0DB0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00300"/>
            <a:ext cx="3143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9A909A-C160-4AAD-A8C6-08C1224D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00300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FB3D28-773E-432C-A2A5-D38D2062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90800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MVP principle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D20B01-067B-4A0F-864E-FF4C4B1F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14650"/>
            <a:ext cx="27432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Every important backend claim must have a command, metric, or integration test attached to it.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39DF0C-ABD9-4165-A6F5-EB59E3CD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1009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16 decisions grouped into domain, local delivery, edge routing, data access, async reliability, operations, verification, and cloud roadmap.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80052D-62AC-43FB-AB4D-35F862F6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Backend Architecture Playground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2D504F-A54E-4A9D-A4F9-6EDA16BE0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4579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936380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4A1ED0-160D-4E48-B8CE-6BD3E38C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3CDF72-3854-4533-B07A-458E279C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1B5FDF-6700-445D-9C8C-9C4F8CE9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D24AEA-367D-449D-877B-ACE91371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C60C58-2502-4800-A970-6C456518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4A3B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4A3B8"/>
                </a:solidFill>
                <a:latin typeface="Aptos Mono"/>
                <a:ea typeface="Aptos Mono"/>
                <a:cs typeface="Aptos Mono"/>
              </a:rPr>
              <a:t>REQUEST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63AE74-AF60-4902-8185-E43CA4F2D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742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Traffic is deliberately shaped before it reaches durable state.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51EE3-F11A-4140-AF5C-625B7044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838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The synchronous path protects and pools requests; the asynchronous path preserves work after commit.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E06502-F8B3-4BFE-AAB8-1B294516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1428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1430">
            <a:solidFill>
              <a:srgbClr val="2DD4B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2F3F24-3A4B-4AB2-8EAF-2762C89C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Client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B1D2FE-9B22-425B-9964-93B15320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1123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browser, script, k6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C37B14-6CCD-48BA-B135-39E68DD8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47900"/>
            <a:ext cx="16954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1430">
            <a:solidFill>
              <a:srgbClr val="60A5F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057748-478B-4865-97C1-A607F7C5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38125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HAProxy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50593E-A20C-469B-944A-82C709DF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667000"/>
            <a:ext cx="13906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connection cap</a:t>
            </a:r>
          </a:p>
          <a:p xmlns:a="http://schemas.openxmlformats.org/drawingml/2006/main">
            <a:pPr algn="l">
              <a:defRPr sz="86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forwarded IP normalization</a:t>
            </a:r>
          </a:p>
          <a:p xmlns:a="http://schemas.openxmlformats.org/drawingml/2006/main">
            <a:pPr algn="l">
              <a:defRPr sz="86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least-connections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B310D3-BAAE-48E3-9053-76968211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47900"/>
            <a:ext cx="1752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1430">
            <a:solidFill>
              <a:srgbClr val="A78BF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D8520C-5D5A-4A74-BAD8-B41856F6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381250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API replicas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D2C9DA-4879-458E-A424-1C1F09F2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667000"/>
            <a:ext cx="1447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auth + validation</a:t>
            </a:r>
          </a:p>
          <a:p xmlns:a="http://schemas.openxmlformats.org/drawingml/2006/main">
            <a:pPr algn="l">
              <a:defRPr sz="86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rate limit + cache</a:t>
            </a:r>
          </a:p>
          <a:p xmlns:a="http://schemas.openxmlformats.org/drawingml/2006/main">
            <a:pPr algn="l">
              <a:defRPr sz="86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correlation IDs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112F21-D1E7-4799-A2AE-31CBD056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47900"/>
            <a:ext cx="16954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1430">
            <a:solidFill>
              <a:srgbClr val="60A5F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3EAA25-4005-4281-A412-866B70CD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38125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PgBouncer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4AB85A-7FE3-4DD7-AEE8-EE62CD5C8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667000"/>
            <a:ext cx="13906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transaction pooling</a:t>
            </a:r>
          </a:p>
          <a:p xmlns:a="http://schemas.openxmlformats.org/drawingml/2006/main">
            <a:pPr algn="l">
              <a:defRPr sz="86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reuses DB backends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665F5E-3ABD-48C6-8A27-64C37111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47900"/>
            <a:ext cx="1809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1430">
            <a:solidFill>
              <a:srgbClr val="2DD4B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825547-C191-4A87-93AD-F40D0056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38125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Postgres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286480-E96C-4052-816D-B1959327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667000"/>
            <a:ext cx="15049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orders + users</a:t>
            </a:r>
          </a:p>
          <a:p xmlns:a="http://schemas.openxmlformats.org/drawingml/2006/main">
            <a:pPr algn="l">
              <a:defRPr sz="86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outbox + migrations</a:t>
            </a:r>
          </a:p>
          <a:p xmlns:a="http://schemas.openxmlformats.org/drawingml/2006/main">
            <a:pPr algn="l">
              <a:defRPr sz="86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idempotency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995156-CAFD-4873-8B86-6CD7D962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862263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arrow">
            <a:extLst xmlns:a="http://schemas.openxmlformats.org/drawingml/2006/main">
              <a:ext uri="{FF2B5EF4-FFF2-40B4-BE49-F238E27FC236}">
                <a16:creationId xmlns:a16="http://schemas.microsoft.com/office/drawing/2014/main" id="{BDCBD22F-1794-4BA9-A538-C9D31876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809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D59354-8462-4FB3-AC5B-9A00595A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62263"/>
            <a:ext cx="590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arrow">
            <a:extLst xmlns:a="http://schemas.openxmlformats.org/drawingml/2006/main">
              <a:ext uri="{FF2B5EF4-FFF2-40B4-BE49-F238E27FC236}">
                <a16:creationId xmlns:a16="http://schemas.microsoft.com/office/drawing/2014/main" id="{E2201955-4635-4586-8713-8A825376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809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D60FD8-F03A-474E-994C-0F236E9BF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62263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arrow">
            <a:extLst xmlns:a="http://schemas.openxmlformats.org/drawingml/2006/main">
              <a:ext uri="{FF2B5EF4-FFF2-40B4-BE49-F238E27FC236}">
                <a16:creationId xmlns:a16="http://schemas.microsoft.com/office/drawing/2014/main" id="{54645C36-8F10-46B3-9B91-5C84AF55D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809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2F16CA-AEA3-449E-B717-634B1B29E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862263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arrow">
            <a:extLst xmlns:a="http://schemas.openxmlformats.org/drawingml/2006/main">
              <a:ext uri="{FF2B5EF4-FFF2-40B4-BE49-F238E27FC236}">
                <a16:creationId xmlns:a16="http://schemas.microsoft.com/office/drawing/2014/main" id="{70E7ED78-A3E1-4A89-BCA8-67E9D068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809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858DE5-CB67-4413-AEE9-78791C60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33900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1430">
            <a:solidFill>
              <a:srgbClr val="FBBF2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1F6413-A444-4AC0-B045-99BD2D53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66725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Outbox publisher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81BF0F-2D8F-4C8F-A169-71A311443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953000"/>
            <a:ext cx="1695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polls committed rows</a:t>
            </a:r>
          </a:p>
          <a:p xmlns:a="http://schemas.openxmlformats.org/drawingml/2006/main">
            <a:pPr algn="l">
              <a:defRPr sz="86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publishes after confirm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D0D4BD-8189-4B43-968B-DA85CF0A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53390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1430">
            <a:solidFill>
              <a:srgbClr val="2DD4B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A54129-48B4-4C0B-A979-7A926D90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66725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RabbitMQ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12F721-79EF-4C7A-A3CF-4253F110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953000"/>
            <a:ext cx="1504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durable queue</a:t>
            </a:r>
          </a:p>
          <a:p xmlns:a="http://schemas.openxmlformats.org/drawingml/2006/main">
            <a:pPr algn="l">
              <a:defRPr sz="86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retry + DLQ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73E1266-5B5C-4F95-BCA7-F2469A85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533900"/>
            <a:ext cx="2019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1430">
            <a:solidFill>
              <a:srgbClr val="A78BF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8C5ED70-FA89-4E95-AD01-8E2142E4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6672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Worker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7869AA-0ECB-4D0E-A5CB-6A2EDEE7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9530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prefetch backpressure</a:t>
            </a:r>
          </a:p>
          <a:p xmlns:a="http://schemas.openxmlformats.org/drawingml/2006/main">
            <a:pPr algn="l">
              <a:defRPr sz="86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idempotent processing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1453C5F-AA40-4430-BA46-CE1620E8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976813"/>
            <a:ext cx="723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arrow">
            <a:extLst xmlns:a="http://schemas.openxmlformats.org/drawingml/2006/main">
              <a:ext uri="{FF2B5EF4-FFF2-40B4-BE49-F238E27FC236}">
                <a16:creationId xmlns:a16="http://schemas.microsoft.com/office/drawing/2014/main" id="{41121444-16E7-4D25-B791-6E8836AA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924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852A20A-85D5-40CC-86CD-73685DA3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976813"/>
            <a:ext cx="723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arrow">
            <a:extLst xmlns:a="http://schemas.openxmlformats.org/drawingml/2006/main">
              <a:ext uri="{FF2B5EF4-FFF2-40B4-BE49-F238E27FC236}">
                <a16:creationId xmlns:a16="http://schemas.microsoft.com/office/drawing/2014/main" id="{BDCCD4ED-875C-44AD-B111-C3313693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4924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9E580A4-9DF1-45E4-AF7C-1749C5F5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990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Metrics path: Prometheus scrapes API, outbox, and worker; Grafana displays latency, backlog, throughput, in-flight work, and DLQ volume.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8847B1A-D5A2-4416-A5F1-9E8A1679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Backend Architecture Playground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2D67832-538E-46B3-B7B5-A66DC299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4579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0518272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9AFC69-34A2-4F95-93B7-BB14680D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50CC28-C4C3-4840-AC5A-B2EAF290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614F86-252B-487F-ABA7-66ED7695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A229B8-06EC-4146-A6E2-F50152D1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B12892-0DB6-48EC-9718-8BAF5F11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4A3B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4A3B8"/>
                </a:solidFill>
                <a:latin typeface="Aptos Mono"/>
                <a:ea typeface="Aptos Mono"/>
                <a:cs typeface="Aptos Mono"/>
              </a:rPr>
              <a:t>DECISION INVENTORY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57874B-A7F6-4984-93D8-C1C2AA0B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742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The MVP covers the core scaling surface without pretending to be finished cloud infrastructure.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9233AF-7ABE-4CAA-88CF-32461D9F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62150"/>
            <a:ext cx="10858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E5DC7A-F1F9-4D33-8527-84FF5824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62150"/>
            <a:ext cx="27146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A44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A042EB-2B8F-41E4-A5F3-3B42B004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57400"/>
            <a:ext cx="254317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4A3B8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94A3B8"/>
                </a:solidFill>
                <a:latin typeface="Aptos Mono"/>
                <a:ea typeface="Aptos Mono"/>
                <a:cs typeface="Aptos Mono"/>
              </a:rPr>
              <a:t>Decision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3CD46E-6042-44CF-8483-5601BD1E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1962150"/>
            <a:ext cx="521208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A44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72EC0D-498E-44BC-BFFB-D96A8451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057400"/>
            <a:ext cx="504063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4A3B8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94A3B8"/>
                </a:solidFill>
                <a:latin typeface="Aptos Mono"/>
                <a:ea typeface="Aptos Mono"/>
                <a:cs typeface="Aptos Mono"/>
              </a:rPr>
              <a:t>Why it exists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C846C7-7A40-4E14-9038-03FA8D7D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1055" y="1962150"/>
            <a:ext cx="293179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A44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6C7680-91A8-4AAE-AD63-E88180C5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5355" y="2057400"/>
            <a:ext cx="276034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4A3B8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94A3B8"/>
                </a:solidFill>
                <a:latin typeface="Aptos Mono"/>
                <a:ea typeface="Aptos Mono"/>
                <a:cs typeface="Aptos Mono"/>
              </a:rPr>
              <a:t>Verification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5EC0BC-7C84-4B41-BB29-08936144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0"/>
            <a:ext cx="25431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ADR-0001 Order domain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346393-A719-4F99-B949-BA68D436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381250"/>
            <a:ext cx="504063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Concrete workload for auth, reads, writes, cache, queues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F9E983-733D-4B9B-99D5-F97F26C0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5355" y="2381250"/>
            <a:ext cx="276034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API walkthrough + k6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8B1FE9-6DC6-4226-B0DE-45257DAC7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14625"/>
            <a:ext cx="25431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ADR-0002 Local-first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BFBAAD-261F-473A-BD9D-07846814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714625"/>
            <a:ext cx="504063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Fast, resettable, no account cost dependency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617E2B-A1A0-4516-847D-7DC1D4A0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5355" y="2714625"/>
            <a:ext cx="276034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stack:up 1 and 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F93D58-83FD-463E-A559-B6C232A1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0"/>
            <a:ext cx="25431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ADR-0003 HAProxy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97323D-CDF0-4BC0-B31D-53B19CD9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048000"/>
            <a:ext cx="504063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Health checks, least-connections, connection limits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E13254-7B55-49EB-BB9B-7C8783E2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5355" y="3048000"/>
            <a:ext cx="276034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HAProxy stats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F6F092-D641-4E77-A7C8-05719D41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81375"/>
            <a:ext cx="25431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ADR-0004 Outbox + RabbitMQ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0A2013-F98D-4C9F-93F4-975FB744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381375"/>
            <a:ext cx="504063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Durable async intent after DB commit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209BA4-A071-4A62-928F-9F9A0001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5355" y="3381375"/>
            <a:ext cx="276034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outbox drains + worker rows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DD5B56-01BF-42A8-9043-8A1E6548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25431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ADR-0005 Redis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CB7ECE-A7A0-42C1-8D21-FBA159EF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714750"/>
            <a:ext cx="504063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Shared cache and rate-limit counters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4B7CFC-81AE-49B0-9300-749365FA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5355" y="3714750"/>
            <a:ext cx="276034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cache HIT/MISS + 429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724680-20B7-4F5B-8A53-332B34AD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48125"/>
            <a:ext cx="25431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ADR-0006 Scenario separation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655233-BC59-4D21-BF9E-CE990160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048125"/>
            <a:ext cx="504063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Benchmarks do not trip protection accidentally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D8A8FB-86BC-48E7-ABA2-B91EF544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5355" y="4048125"/>
            <a:ext cx="276034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load-test identities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7B8E31-3AE4-4C8B-80F2-6A18E862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0"/>
            <a:ext cx="25431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ADR-0007 Readiness wrapper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68B73B-3CD9-4CD5-B25C-E9204CCB0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381500"/>
            <a:ext cx="504063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One command gives full-stack readiness verdict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97437E-869C-4548-B06C-30CD80D8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5355" y="4381500"/>
            <a:ext cx="276034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health polling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B8614F-43BB-4BD3-8BD7-C4BCCAE9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14875"/>
            <a:ext cx="25431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ADR-0008 AWS later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368AE53-40A2-40FC-9D1F-E3BBEA85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714875"/>
            <a:ext cx="504063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Avoid cloud cost/quota before local proof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86A6EF-DCC7-42BC-91EE-F32B4E89A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5355" y="4714875"/>
            <a:ext cx="276034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future IaC gates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3C6EEC-9CCA-41CD-A974-43A14734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48250"/>
            <a:ext cx="25431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ADR-0009 PgBouncer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311AAD-9589-4CAE-A295-63CF2053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5048250"/>
            <a:ext cx="504063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Reduce Postgres backend connection pressure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D7D7355-A253-46BB-83F5-9F07189E8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5355" y="5048250"/>
            <a:ext cx="276034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show pools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4A8C4E8-3522-4A41-A683-002163730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81625"/>
            <a:ext cx="25431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ADR-0010 API seeding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AB3762A-BD60-4561-9CC9-1A74402A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5381625"/>
            <a:ext cx="504063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Load data exercises real system path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B06E9A7-063D-45B5-B9FD-EE60A317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5355" y="5381625"/>
            <a:ext cx="276034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orders/outbox/processed counts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32ABE5F-2D20-47C0-A8B1-827D9D50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0"/>
            <a:ext cx="25431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ADR-0011-0016 Resilience set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82433EC-B7BA-468B-8554-741BEF2E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5715000"/>
            <a:ext cx="504063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Drain, DLQ, migrations, tracing, tests, prefetch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DAED5C6-34D1-49EB-A843-D1C9A323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5355" y="5715000"/>
            <a:ext cx="276034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integration suite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E042CC0-8673-47F2-8B63-ECF53654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Backend Architecture Playground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D82A467-5363-4897-83AF-316E1D06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4579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692891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72E83B-1CCC-478B-BADF-9B5654D4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896218-A667-48A4-910F-FDBDD26A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7D941D-F19C-4768-A59E-8D915D04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C471E3-3F9B-4300-972B-2956A501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7A7618-E4B1-4080-BFC4-10C1489C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4A3B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4A3B8"/>
                </a:solidFill>
                <a:latin typeface="Aptos Mono"/>
                <a:ea typeface="Aptos Mono"/>
                <a:cs typeface="Aptos Mono"/>
              </a:rPr>
              <a:t>DOMAIN AND PHASE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1A37A1-CAD1-4B78-A28D-2CA660906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742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The order domain is intentionally boring so the backend behavior is visible.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21A4E5-B69E-4A16-8ED4-3E0EBF42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838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ADR-0001 and ADR-0002 set a narrow product surface with broad architecture coverage.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97F43C-72A3-4CA5-952D-7571947D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288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FDBDC5-9B63-43E3-9ADF-67508BF9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288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5CF651-87E4-4221-A040-FF9E0D2A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7AD097-AC2E-4B28-8FC4-ED4E23E2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2743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Use users, auth, orders, status updates, and order.created processing as the workload.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160C4C-C1CE-4500-A1AC-0DC81FB4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288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7D2A43-4D35-4A64-A99E-D66E77F3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288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5C8558-6A65-4292-9BC1-09A68016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19350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Why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859178-6398-4595-A223-6CE73938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43200"/>
            <a:ext cx="2743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Order creation naturally touches synchronous writes, durable async work, idempotency, reads, cache, auth, and load behavior.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1B6E48-27BD-467B-B81F-E5A312D4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288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E0CF67-6C01-4E1C-A66B-0CBC0B45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288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1A64EA-8CFE-408A-BC52-E05AE914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19350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Tradeoff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A39FE0-1D11-43B0-BFC6-B8370497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43200"/>
            <a:ext cx="2743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The system is not a full commerce product. Product breadth is deliberately out of scope.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478577-31FE-4556-9D82-6524AC41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05300"/>
            <a:ext cx="101727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9651DC-6FCA-4DB0-B091-7A86E943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05300"/>
            <a:ext cx="25431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A44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8CCEA1-9E33-4679-89C0-5D0DE7C8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00550"/>
            <a:ext cx="23717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4A3B8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94A3B8"/>
                </a:solidFill>
                <a:latin typeface="Aptos Mono"/>
                <a:ea typeface="Aptos Mono"/>
                <a:cs typeface="Aptos Mono"/>
              </a:rPr>
              <a:t>Option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1FB182-7FD9-43DD-85D2-BEC1A24E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305300"/>
            <a:ext cx="3763899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A44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1D515F-144D-4CD3-AACD-567A3FFF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400550"/>
            <a:ext cx="3592449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4A3B8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94A3B8"/>
                </a:solidFill>
                <a:latin typeface="Aptos Mono"/>
                <a:ea typeface="Aptos Mono"/>
                <a:cs typeface="Aptos Mono"/>
              </a:rPr>
              <a:t>Pros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2F3279-D75E-4917-9997-46C3CA41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305300"/>
            <a:ext cx="3865626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A44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72F99E-1BCF-4D2C-9617-38420BAF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4324" y="4400550"/>
            <a:ext cx="3694176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4A3B8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94A3B8"/>
                </a:solidFill>
                <a:latin typeface="Aptos Mono"/>
                <a:ea typeface="Aptos Mono"/>
                <a:cs typeface="Aptos Mono"/>
              </a:rPr>
              <a:t>Cons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D19AEE-66EC-4EDD-A16D-8ACFC727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0125"/>
            <a:ext cx="23717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Generic benchmark API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86D648-FC36-40D2-BF86-46072399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810125"/>
            <a:ext cx="3592449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Fast to build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C48AEC-93CA-4654-8C6A-60329706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4324" y="4810125"/>
            <a:ext cx="3694176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Too artificial for architecture decisions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6185F4-501B-4285-A4DB-021A8BB3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29225"/>
            <a:ext cx="23717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Full SaaS/commerce app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C66640-5885-40FC-AE44-0B41CA9D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5229225"/>
            <a:ext cx="3592449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Richer business realism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CAACE8-CD4D-4407-85A2-AC0E86DC9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4324" y="5229225"/>
            <a:ext cx="3694176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Product scope hides backend lessons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DA7491-CF2E-4470-8483-10A6C8D7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48325"/>
            <a:ext cx="23717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Order playground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E091B4-DB56-4CD9-ABF2-C24CAC25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5648325"/>
            <a:ext cx="3592449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Concrete enough, still compact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C66BDD9-3E22-4335-A9E4-7EFC0BA3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4324" y="5648325"/>
            <a:ext cx="3694176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Needs clear non-goals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98B5B9-6E68-4CB9-B5CF-42C44EF7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Backend Architecture Playground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B702CFE-1823-478A-BA83-94D620AA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4579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0255535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038517-2C35-4025-A84C-9EF359E9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C10906-4E9F-408D-A7F4-06199512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352A72-0935-4F4F-81B2-CE6FCEB9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3E7E95-EAE8-4D6C-ABD2-0BBF5C47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E734C2-33AF-4EB3-BC2B-6A0A4EE8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4A3B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4A3B8"/>
                </a:solidFill>
                <a:latin typeface="Aptos Mono"/>
                <a:ea typeface="Aptos Mono"/>
                <a:cs typeface="Aptos Mono"/>
              </a:rPr>
              <a:t>EDGE AND SCALE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0888A6-B5D6-479C-BA7C-7367A70A3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742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HAProxy plus API replicas gives measurable horizontal scaling before cloud deployment.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0A9E27-6EAB-4A94-B532-3F49FABA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838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ADR-0003, ADR-0006, and ADR-0007 keep load balancing, readiness, and benchmark behavior explicit.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4BEAE9-D1A2-4F48-A68F-E34DD073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476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5FFF5D-2101-487D-BAE8-169EF880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4E1B2C-3BE7-44D7-86FE-9BF3BD46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2076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HAProxy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5FB011-7C2A-49C0-9878-A57D9836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2076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Least-connections, active health checks, connection limits, and forwarded IP normalization.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9579E5-7795-43BA-963F-3B4B35AF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00250"/>
            <a:ext cx="2476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AF7C91-697C-4401-ABC6-EB10454B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002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5ECCC0-2D3E-4CC7-A6FC-55017C6E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190750"/>
            <a:ext cx="2076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API replicas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422A2C-6C21-4697-958B-F60FAA71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514600"/>
            <a:ext cx="2076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Scale target is api-service: one replica for baseline, four replicas for comparison.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ABFA82-D4D2-4D0C-B705-8ACA19A1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2476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D743C6-6DA7-45AA-BBD3-6D5CFD6C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A8378D-A11D-4F14-B82F-AB1DB388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90750"/>
            <a:ext cx="2076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Readiness wrapper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D2A377-EDFC-4445-8F71-BCD33F84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14600"/>
            <a:ext cx="2076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stack:up builds, scales, waits for health, and reports endpoints.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532016-354C-457A-AAA8-0A87AC526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00250"/>
            <a:ext cx="2476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5FBDB4-4364-47C1-82FE-BA63F338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002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1F13F5-E69B-4F6E-BB08-88C554AE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90750"/>
            <a:ext cx="2076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Load identity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8980AD-8A94-40BA-92E4-2CED3759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14600"/>
            <a:ext cx="2076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Benchmarks use X-Load-Test-Client-Id so rate limits are deterministic.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A8C05F-83C4-4565-87F3-F531A761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668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2ECBBA-1F17-40CD-AE3A-068CBF75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309372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A44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DC3B94-FA67-4F1E-A973-012ADDCC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292227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4A3B8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94A3B8"/>
                </a:solidFill>
                <a:latin typeface="Aptos Mono"/>
                <a:ea typeface="Aptos Mono"/>
                <a:cs typeface="Aptos Mono"/>
              </a:rPr>
              <a:t>Choice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5B9FE1-EAC5-41C8-991B-96746CEC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4000500"/>
            <a:ext cx="394716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A44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6BEE6E-ED76-470B-A53C-64F710E2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7620" y="4095750"/>
            <a:ext cx="377571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4A3B8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94A3B8"/>
                </a:solidFill>
                <a:latin typeface="Aptos Mono"/>
                <a:ea typeface="Aptos Mono"/>
                <a:cs typeface="Aptos Mono"/>
              </a:rPr>
              <a:t>Pros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252FFD-5F45-4C72-A33E-CF7FE2CE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0480" y="4000500"/>
            <a:ext cx="362712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A44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CE8A58-A655-4C28-9798-1C9009D6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4780" y="4095750"/>
            <a:ext cx="345567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4A3B8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94A3B8"/>
                </a:solidFill>
                <a:latin typeface="Aptos Mono"/>
                <a:ea typeface="Aptos Mono"/>
                <a:cs typeface="Aptos Mono"/>
              </a:rPr>
              <a:t>Cons / watchouts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BCC6CC-3E6F-49D8-9755-96BE7FD8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05325"/>
            <a:ext cx="292227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HAProxy over Nginx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B1E366-B5B6-4A85-940E-F59D70B9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7620" y="4505325"/>
            <a:ext cx="377571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Direct health checks and least-connections behavior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F788D5-9FFF-4C76-9C7F-3494CA7A1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4780" y="4505325"/>
            <a:ext cx="345567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Another config file to maintain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B26091-ABA4-40BE-B095-3A9A886D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24425"/>
            <a:ext cx="292227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Wrapper over raw Compose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C5E1627-7F36-41DF-849B-C32F7EFA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7620" y="4924425"/>
            <a:ext cx="377571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Clear pass/fail readiness for contributors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E4B72C-BE2A-4A0C-A0FE-8ADA2F916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4780" y="4924425"/>
            <a:ext cx="345567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Must update required-service list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75B171-3825-4DFC-8935-BAF33F9C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43525"/>
            <a:ext cx="292227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Dedicated load-test identity header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38DA2A-BDB2-4BD1-BC01-57264E22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7620" y="5343525"/>
            <a:ext cx="377571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Stable benchmarks without spoofed forwarded IP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6298540-0B7F-4DBE-92E4-A0E836FA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4780" y="5343525"/>
            <a:ext cx="345567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Must not be treated as public-production behavior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A9619F1-B4FA-4F58-9DB6-1D201CC3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Backend Architecture Playground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8A99447-DF11-4148-A0A8-A5F73E11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4579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7895871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3F7920-BE16-4520-BD4C-F93C1030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A14BDA-64E1-40E3-B662-CF0EDD5F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CE8BF4-CFC2-46B0-AAAB-E6C655D5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7E4D05-4296-4769-A38A-8DF1E71C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8C1524-5EA0-4C26-9D05-C9035F95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4A3B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4A3B8"/>
                </a:solidFill>
                <a:latin typeface="Aptos Mono"/>
                <a:ea typeface="Aptos Mono"/>
                <a:cs typeface="Aptos Mono"/>
              </a:rPr>
              <a:t>DATA STRATEGY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16609C-3D45-4887-B39D-A56FAFE5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742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Postgres stays the source of truth, while PgBouncer protects connection capacity.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0AE86-2148-4961-8809-DE1287D7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838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ADR-0009 and ADR-0013 cover the main enterprise data concerns: pooling and controlled schema evolution.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D8FF11-9BEA-4F6D-97A0-4FED4E4EA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31432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24034E-A328-4F44-884F-94CE37368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571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42FE88-D9FF-419F-9FBC-9BEA34A4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28850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Postgres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287EF3-454A-47B6-8B29-5E4A2C60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2743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Users, refresh tokens, orders, outbox events, schema_migrations, and processed_events.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93259F-2A9A-43DD-8525-E7352020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38350"/>
            <a:ext cx="31432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0780EB-5152-4441-9EA3-068DC001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38350"/>
            <a:ext cx="571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15C3B4-7B35-4C21-B746-4E69B5B9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28850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PgBouncer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4D2B72-6F43-4C2C-8B8F-3152870C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52700"/>
            <a:ext cx="2743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API replicas use transaction pooling at pgbouncer:6432; background services stay direct for DDL and locking clarity.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E63D58-1160-4AEE-A5E7-A2B98CF6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38350"/>
            <a:ext cx="31432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48D050-3805-4AB9-A84F-78D13487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38350"/>
            <a:ext cx="571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14CD84-B907-49BB-86AE-50EBC5B6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28850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Migrations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C8F5C3-10ED-4013-B41E-CC67D24C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52700"/>
            <a:ext cx="2743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Forward-only SQL files, version tracking, and checksum drift detection.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ED7F17-E84E-4AE0-BC5C-58DF475B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100965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C385A4-9285-4BD3-8872-D51D111A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262509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A44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EC3AA4-AB13-455B-B5DD-BDF1A7AC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245364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4A3B8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94A3B8"/>
                </a:solidFill>
                <a:latin typeface="Aptos Mono"/>
                <a:ea typeface="Aptos Mono"/>
                <a:cs typeface="Aptos Mono"/>
              </a:rPr>
              <a:t>Decision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84CB36-A7FD-4B07-A007-A646D182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5190" y="4095750"/>
            <a:ext cx="383667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A44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0D9FE-40F8-4506-8C3A-A6B83C4C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9490" y="4191000"/>
            <a:ext cx="366522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4A3B8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94A3B8"/>
                </a:solidFill>
                <a:latin typeface="Aptos Mono"/>
                <a:ea typeface="Aptos Mono"/>
                <a:cs typeface="Aptos Mono"/>
              </a:rPr>
              <a:t>Pros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B5F97A-7A68-4325-ADB3-A003703D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1860" y="4095750"/>
            <a:ext cx="363474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A44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D48117-EA06-49A3-8AC1-808A21D7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60" y="4191000"/>
            <a:ext cx="346329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4A3B8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94A3B8"/>
                </a:solidFill>
                <a:latin typeface="Aptos Mono"/>
                <a:ea typeface="Aptos Mono"/>
                <a:cs typeface="Aptos Mono"/>
              </a:rPr>
              <a:t>Cons / watchouts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C9248C-1039-46BD-AABE-11311F34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00575"/>
            <a:ext cx="245364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PgBouncer for API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6A59A4-2FF4-4B37-AEE0-7345509D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9490" y="4600575"/>
            <a:ext cx="366522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Reduces Postgres backend pressure under replica scaling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316F85-BB34-47BD-A732-EB22FE57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60" y="4600575"/>
            <a:ext cx="346329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Transaction pooling requires care with session state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F0768E-E700-4449-9385-A536E92B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9675"/>
            <a:ext cx="245364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Direct DB for workers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6A338A-D3C2-4341-918D-FD0708C0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9490" y="5019675"/>
            <a:ext cx="366522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Simpler locking and DDL behavior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7F10CF-2C06-4C7C-A2DC-BC9363FD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60" y="5019675"/>
            <a:ext cx="346329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Background pools still count against DB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BD8C8A-E8B0-4FA2-820A-808DF97F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38775"/>
            <a:ext cx="245364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SQL migrations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4B7FDA-11B9-4578-A763-A68387F5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9490" y="5438775"/>
            <a:ext cx="366522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Auditable and tool-light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DA0AFE4-37B7-4D91-ABEF-1F715E7C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60" y="5438775"/>
            <a:ext cx="346329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Requires discipline; no edited applied migrations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6699A4E-20D4-4B56-A37E-6B2445F8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Backend Architecture Playground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43DF7A8-3E20-4630-A701-499BB0B1D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4579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483776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D24DBB-4E88-42AC-BC90-8DD7594B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65CA3E-38CE-465F-92CD-FA47E787F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44CC26-CAA1-4130-AFF8-8DCCA52D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7BBB9D-82B2-434B-BBE9-B0EDE922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30EF98-51AE-4CA5-9FAF-0B5F1EB0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4A3B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4A3B8"/>
                </a:solidFill>
                <a:latin typeface="Aptos Mono"/>
                <a:ea typeface="Aptos Mono"/>
                <a:cs typeface="Aptos Mono"/>
              </a:rPr>
              <a:t>ASYNC RELIABILITY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B796E6-05C6-4727-A703-779F1677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742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The system preserves intent before it asks the broker to deliver work.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D1CDCE-04C4-42D4-85C8-58ED84FF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838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ADR-0004, ADR-0011, ADR-0012, and ADR-0016 make the event pipeline durable, drainable, and bounded.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8D749F-F7A0-49B1-8BC9-4827EA29F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24574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AC70D2-CAD3-46B8-8777-8F926EA3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83725B-98FE-4407-BBF4-3D547D24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2885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Transactional outbox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DD856E-CCB1-4F30-85A1-DCF813C0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2057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Order and event row commit together; publisher sends later after broker confirmation.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00CD29-E737-40AF-9D10-948560C6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38350"/>
            <a:ext cx="24574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C0C3FA-D12F-480E-864B-C3A28210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3835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791E62-3731-438E-9116-CD15D862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2885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RabbitMQ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83F685-39B5-485C-88AD-3ACFA6FC9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52700"/>
            <a:ext cx="2057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Durable exchange and queue for order.created events.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26A448-ABC9-4DCA-9A04-AF7A1B2C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038350"/>
            <a:ext cx="24574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B2D9F8-8C9F-4190-BD34-269C4A66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03835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44A784-E523-4119-95E1-7894D818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2885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Worker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6D75BF-32BA-48DF-AAC9-82175B82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52700"/>
            <a:ext cx="2057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Idempotent eventId handling and prefetch-based backpressure.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86200B-B672-47A3-B1A6-B5CC0E26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38350"/>
            <a:ext cx="24574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B46590-58B5-4718-A276-BCBC90ED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3835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71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5D5EBC-FD84-43CC-8068-196CC171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2885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Retry + DLQ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F99FE7-225E-44C2-9020-429DF00D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52700"/>
            <a:ext cx="2057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Bounded poison-message handling with retry metadata and DLQ metrics.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1454F5-9968-4277-A022-A2642C33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104775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CF485A-A684-4C4E-B4BD-EDBA2CF3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3248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A44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FEEC07-996F-4FF4-BFEF-7E4CE9A9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0"/>
            <a:ext cx="3076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4A3B8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94A3B8"/>
                </a:solidFill>
                <a:latin typeface="Aptos Mono"/>
                <a:ea typeface="Aptos Mono"/>
                <a:cs typeface="Aptos Mono"/>
              </a:rPr>
              <a:t>Choice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BFC374-A0B3-4BA5-8324-D87FCBF2A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095750"/>
            <a:ext cx="4086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A44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1784E5-4A72-4C7D-BF51-303EBDAC3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191000"/>
            <a:ext cx="39147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4A3B8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94A3B8"/>
                </a:solidFill>
                <a:latin typeface="Aptos Mono"/>
                <a:ea typeface="Aptos Mono"/>
                <a:cs typeface="Aptos Mono"/>
              </a:rPr>
              <a:t>Why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BD5655-E6C1-419E-9789-01C1DDD7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9575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A44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8E78A1-9923-4247-BED3-A4D3DE97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91000"/>
            <a:ext cx="2971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4A3B8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94A3B8"/>
                </a:solidFill>
                <a:latin typeface="Aptos Mono"/>
                <a:ea typeface="Aptos Mono"/>
                <a:cs typeface="Aptos Mono"/>
              </a:rPr>
              <a:t>Cost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22AE4B-A6BF-464F-A46B-092AE18E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81525"/>
            <a:ext cx="30765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Outbox instead of direct publish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302299-2F93-4B85-A6C8-C6372A67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581525"/>
            <a:ext cx="39147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Avoids event loss after DB commit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D9E36A-E104-4607-906A-F625AC087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81525"/>
            <a:ext cx="2971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Adds table, poller, and backlog monitoring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03FF6E-EF54-4A40-9035-0F7A2168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81575"/>
            <a:ext cx="30765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Manual bounded retry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F02EC5-05AF-42F0-8B6E-CA1AEB75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981575"/>
            <a:ext cx="39147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Keeps retry metadata visible and testable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F304EA-703B-4209-A9B8-81132F69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981575"/>
            <a:ext cx="2971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More queue setup than simple consume/ack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9B7DEA8-E0B1-4EB5-8D8C-754D9DDE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81625"/>
            <a:ext cx="30765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Prefetch tuning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6854CD0-3FCD-4B48-B9CA-692D64BC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5381625"/>
            <a:ext cx="39147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Controls throughput and memory pressure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8DA2C21-4D29-4D2C-8A3A-C9851B56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381625"/>
            <a:ext cx="2971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Needs workload-specific tuning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5B21A47-8A86-473B-A9B2-C849DABD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Backend Architecture Playground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EBFB782-A478-4700-90DF-ADDD2EED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4579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8808451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6169B5-754D-4A25-A38D-FAE0549F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E0061E-F5FE-4AB0-B4D7-58F24E8A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524482-CAC1-44F9-9A52-B9B9360D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5CCB1C-4969-4B2A-870C-04306093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56CA3B-49E9-4F19-9378-631BEBCD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4A3B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4A3B8"/>
                </a:solidFill>
                <a:latin typeface="Aptos Mono"/>
                <a:ea typeface="Aptos Mono"/>
                <a:cs typeface="Aptos Mono"/>
              </a:rPr>
              <a:t>PROTECTION AND CACHE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1E2C45-11B9-4B88-9C3A-9E45BE72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742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Redis centralizes soft-state behavior across horizontally scaled API replicas.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2245A2-795D-4695-B9FC-128B42E6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838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ADR-0005 keeps cache and rate limits consistent without making Redis a hard dependency for normal traffic.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568763-01CE-4E6B-9D87-F4805DD1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8575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3F2C5E-558E-4405-BC10-539EDB08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71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75C5F8-0C21-4E57-87D9-1BB91FE5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2457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Read-through cache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FAFC49-656D-4CFD-B4BF-AF13FA10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24574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GET order responses can be served from Redis; PATCH invalidates the order key.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A43ADA-3467-419C-9BAC-3425C12B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90750"/>
            <a:ext cx="28575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46AD74-6699-4624-A72C-DCEDBA5B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90750"/>
            <a:ext cx="571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267C2E-DBC4-43F7-8027-F0F52299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81250"/>
            <a:ext cx="2457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Distributed limits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F47BEC-5283-4A49-99A4-735FC872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05100"/>
            <a:ext cx="24574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Counters are shared across replicas, so scaling API containers does not reset abuse controls.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E9AABB-1024-4621-9706-25CF9EAF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90750"/>
            <a:ext cx="28575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64DD67-63B3-4465-98D8-DC379EC2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90750"/>
            <a:ext cx="571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B91552-4C6D-4BBD-9FAC-E98A6BEF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81250"/>
            <a:ext cx="2457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Fail-open posture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86B25B-31CC-4746-9196-8E40D5D3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05100"/>
            <a:ext cx="24574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Redis errors are logged and normal API traffic continues instead of hard failing.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3ECF6A-9DBC-4ABF-AC95-81DBE498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43400"/>
            <a:ext cx="10096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DFB095-D09C-4646-A020-17D07FCF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43400"/>
            <a:ext cx="3028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A44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7121BA-FF14-4865-A783-C65390DB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386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4A3B8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94A3B8"/>
                </a:solidFill>
                <a:latin typeface="Aptos Mono"/>
                <a:ea typeface="Aptos Mono"/>
                <a:cs typeface="Aptos Mono"/>
              </a:rPr>
              <a:t>Alternative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6D4239-E898-4E48-A63E-12655DEB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43400"/>
            <a:ext cx="383667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A44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E0F825-E3DD-4241-83D0-1C4421CD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438650"/>
            <a:ext cx="366522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4A3B8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94A3B8"/>
                </a:solidFill>
                <a:latin typeface="Aptos Mono"/>
                <a:ea typeface="Aptos Mono"/>
                <a:cs typeface="Aptos Mono"/>
              </a:rPr>
              <a:t>Reason not chosen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6C8D79-50B7-4CBB-AF33-ADFFDD4F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6670" y="4343400"/>
            <a:ext cx="323088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A44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18DC8C-B703-45DC-ABC0-AF0C7CBA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0970" y="4438650"/>
            <a:ext cx="305943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4A3B8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94A3B8"/>
                </a:solidFill>
                <a:latin typeface="Aptos Mono"/>
                <a:ea typeface="Aptos Mono"/>
                <a:cs typeface="Aptos Mono"/>
              </a:rPr>
              <a:t>Current verification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63440F-725F-47CF-A9FC-3869D152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10125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In-process cache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B6BC96-8897-4DD4-8BEE-9C4CF593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810125"/>
            <a:ext cx="366522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Replica-local and inconsistent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9B13EE-F7AD-43A2-8783-4A053A50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0970" y="4810125"/>
            <a:ext cx="305943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Cache MISS then HIT test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5A1B46-626A-4F5D-B6B8-B59382AC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91125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Postgres rate counters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CC6586-C9FE-44FF-8C00-3556D075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191125"/>
            <a:ext cx="366522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Adds avoidable write pressure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B4317C-D0D0-485C-9A39-6D1ECE71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0970" y="5191125"/>
            <a:ext cx="305943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429 after configured limit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C2218F-CE79-4627-97FD-97DEA46F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72125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Fail-closed Redis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19EC9A-BA64-411E-9EFC-88E88A301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572125"/>
            <a:ext cx="366522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Cache infra could block valid users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5635B3-01DC-44CB-AB9F-595B32EF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0970" y="5572125"/>
            <a:ext cx="305943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Degraded readiness but API can serve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B4BB5B7-AD6F-4414-B474-0D0B67F4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Backend Architecture Playground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E4B9DA-ACA2-4550-A4CB-CF86D245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4579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9761510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5F6991-9666-4561-9F42-B41F538F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2071AD-DC01-4034-95E8-AE1078E3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5366EC-D132-4E94-9474-736D369D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4573F9-71F1-4431-AD3A-71043CB63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D2F8BF-9972-49EC-9F6D-D4EAA27B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4A3B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4A3B8"/>
                </a:solidFill>
                <a:latin typeface="Aptos Mono"/>
                <a:ea typeface="Aptos Mono"/>
                <a:cs typeface="Aptos Mono"/>
              </a:rPr>
              <a:t>OPERABILITY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8479DF-C92F-47D2-B26E-5BECEADC9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742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The MVP makes failures observable before adding heavier tracing infrastructure.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B0E6EA-EA8F-44EC-8F84-4EBA6117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838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ADR-0014 and ADR-0011 provide correlation and drain behavior now; OpenTelemetry remains a Phase 2 candidate.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CCF620-C7D5-47E5-ABD5-2516E728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2574CC-3B8B-473E-9F7A-81BFE373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15C07B-D8D2-491A-8F36-AE33A2B8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Correlation IDs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28B4E3-B1ED-4038-9DE9-184CBA81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2743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API reads or generates X-Correlation-Id, stores it in outbox payloads, sends it as RabbitMQ header, and logs it in worker.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853EDF-91D6-4686-9194-CF65497F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764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936733-76A2-4FD7-B25B-41432332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764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C61369-301B-43B8-A5C8-53274A6A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66950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Graceful drain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82798D-E92A-4572-A906-9010CCA5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90800"/>
            <a:ext cx="2743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API rejects new requests during shutdown, outbox waits for active poll, worker drains in-flight messages.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636933-5671-40F5-A949-E1A72232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764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EB4FBA-68C3-4B31-B0D3-921CAB77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764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70DD6D-952F-4664-90B9-DCEBDDFA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66950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Metrics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A84EB8-4E1A-4208-BEF4-13EA5B06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90800"/>
            <a:ext cx="2743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Prometheus and Grafana track latency, request volume, outbox backlog, worker throughput, in-flight work, and DLQ count.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05FC2A-4F0B-45E5-A10C-2B3F0E70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100965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DB35FA-9A0F-453C-9EAE-B7593B82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282702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A44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E560FE-5BDE-48F4-9228-F8BB0B91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265557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4A3B8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94A3B8"/>
                </a:solidFill>
                <a:latin typeface="Aptos Mono"/>
                <a:ea typeface="Aptos Mono"/>
                <a:cs typeface="Aptos Mono"/>
              </a:rPr>
              <a:t>Decision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76B1BB-1EEF-48BC-93AB-F56B9D40D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7120" y="4229100"/>
            <a:ext cx="383667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A44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189A1D-FD7A-45EB-A733-67B6426C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1420" y="4324350"/>
            <a:ext cx="366522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4A3B8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94A3B8"/>
                </a:solidFill>
                <a:latin typeface="Aptos Mono"/>
                <a:ea typeface="Aptos Mono"/>
                <a:cs typeface="Aptos Mono"/>
              </a:rPr>
              <a:t>Pros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225805-7F8E-4952-A582-ECD09158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4229100"/>
            <a:ext cx="343281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A44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DC2181-63E8-4D04-9303-69C580FC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8090" y="4324350"/>
            <a:ext cx="326136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4A3B8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94A3B8"/>
                </a:solidFill>
                <a:latin typeface="Aptos Mono"/>
                <a:ea typeface="Aptos Mono"/>
                <a:cs typeface="Aptos Mono"/>
              </a:rPr>
              <a:t>Cons / next step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5E938E-6F80-4EDA-9065-6B81AE20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14875"/>
            <a:ext cx="265557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Manual correlation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78E3D2-DF43-4129-996F-8912745D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1420" y="4714875"/>
            <a:ext cx="366522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Low-infra way to trace business operations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D41EEB-4F99-43BE-BE68-1881DD63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8090" y="4714875"/>
            <a:ext cx="326136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Less complete than OpenTelemetry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5DD050-39F0-47AE-A701-880397FB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14925"/>
            <a:ext cx="265557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Structured shutdown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E2E4BA-E320-41E8-AB8E-9A43C72C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1420" y="5114925"/>
            <a:ext cx="366522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Prevents silent work loss during scale-down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A858A7-D0E4-4771-BB0B-86227FBB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8090" y="5114925"/>
            <a:ext cx="326136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Can slow container stop under load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D22094-25C7-40B2-B3BD-81B1D754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14975"/>
            <a:ext cx="265557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Local metrics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3DDA67-81EF-4573-B2F6-4F5340EE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1420" y="5514975"/>
            <a:ext cx="366522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Fast visibility during load tests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D7AEC2-01F1-419E-BB53-3B838A14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8090" y="5514975"/>
            <a:ext cx="326136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Cloud logging/tracing still future work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71028F-777F-4B79-953C-FD54346B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Backend Architecture Playground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B7846E7-61A9-4CB4-A8E0-4B076284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4579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4670974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D7BA4A-4C8C-4F95-BC26-17A6B540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68D935-2140-4714-BCBD-D09FA214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4677EE-4228-4EA0-AC7E-E1190791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69D55A-4384-4F20-9A2F-11B5ABBC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850DDF-0D47-408A-BA42-80A39F44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4A3B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4A3B8"/>
                </a:solidFill>
                <a:latin typeface="Aptos Mono"/>
                <a:ea typeface="Aptos Mono"/>
                <a:cs typeface="Aptos Mono"/>
              </a:rPr>
              <a:t>VERIFICATION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164385-B519-45C3-864A-6709229F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742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The test harness validates full service behavior, not only individual packages.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F7EDBC-0961-4BEC-8C89-43D63574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838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ADR-0010 and ADR-0015 turn architecture claims into repeatable commands.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9208AE-1D08-42F2-B357-B3F35D8D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2343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3842DB-3048-478D-A9F5-33753367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408F69-F05F-46E1-92BE-33D5B6A2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2885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Static checks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14B3FB-D794-4D05-9D9D-1416F8C0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1943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TypeScript, ESLint, and Docker Compose config validation.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4B2C84-4BE6-41F7-8394-1599F15E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38350"/>
            <a:ext cx="2343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4B926F-4B68-46CB-A0D5-A8AC085F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3835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0B9020-DC61-42D0-AE5B-56FC0CD55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2885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Integration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3E7E07-9937-43EC-A844-C5A03931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552700"/>
            <a:ext cx="1943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Order lifecycle, cache invalidation, rate limit, correlation IDs, and DLQ.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5DAA4D-C65A-49C8-A154-48E91ACF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38350"/>
            <a:ext cx="2343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D5081E-C12D-478F-A3C5-FCB87F33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3835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063860-9861-4B51-B1EB-D0FF6484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2885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Seed data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772BAE-9CC9-4428-A287-62CC915B5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52700"/>
            <a:ext cx="1943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Public API seeding exercises the complete order path.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97C05F-873A-4C24-A112-28F70D1C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38350"/>
            <a:ext cx="2343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9A379B-D050-497B-A2DB-88AD2E81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3835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5EE1A5-1C89-4810-85CD-8F97F893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22885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k6 stress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90E191-BE2D-4FB6-969C-C120AA3E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52700"/>
            <a:ext cx="1943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Mixed orders, login pressure, and rate-limit abuse scenarios.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F13491-4F3E-43A0-974C-DB664304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100965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B0BC03-CD03-403F-80F5-304D8603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312991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A44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4C8B21-2B0A-48FA-8503-68A4099D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295846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4A3B8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94A3B8"/>
                </a:solidFill>
                <a:latin typeface="Aptos Mono"/>
                <a:ea typeface="Aptos Mono"/>
                <a:cs typeface="Aptos Mono"/>
              </a:rPr>
              <a:t>Command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8E5AA6-AFC3-49CB-AA46-D2501F57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0015" y="4095750"/>
            <a:ext cx="312991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A44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7AAF6E-975B-42BC-8C3C-BA6124BC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4315" y="4191000"/>
            <a:ext cx="295846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4A3B8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94A3B8"/>
                </a:solidFill>
                <a:latin typeface="Aptos Mono"/>
                <a:ea typeface="Aptos Mono"/>
                <a:cs typeface="Aptos Mono"/>
              </a:rPr>
              <a:t>Purpose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CEC0ED-08C2-403E-9383-A7A91E95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930" y="4095750"/>
            <a:ext cx="383667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A44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2BC129-1842-4448-B927-7257BFC0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4230" y="4191000"/>
            <a:ext cx="366522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4A3B8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94A3B8"/>
                </a:solidFill>
                <a:latin typeface="Aptos Mono"/>
                <a:ea typeface="Aptos Mono"/>
                <a:cs typeface="Aptos Mono"/>
              </a:rPr>
              <a:t>What it catches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989129-E575-44FC-9BF5-11E22209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00575"/>
            <a:ext cx="295846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pnpm run test:integration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8C89B6-11D1-4F6A-ADAF-11391899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4315" y="4600575"/>
            <a:ext cx="295846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Live cross-service behavior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8CE69E-3AB4-4F6A-9360-C328CDF9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4230" y="4600575"/>
            <a:ext cx="366522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Outbox, worker, cache, DLQ, rate limits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2F6F68-B140-4513-BCED-49B9336AA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9675"/>
            <a:ext cx="295846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pnpm run seed:orders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61C9EB-8031-4FAB-B3F0-2364246F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4315" y="5019675"/>
            <a:ext cx="295846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Representative data creation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E67E16-0996-48CC-842A-C5FCCE95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4230" y="5019675"/>
            <a:ext cx="366522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API path and async pipeline regressions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C39BAB4-EE8A-46BB-B2EF-4C7295FC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38775"/>
            <a:ext cx="295846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k6 scenarios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0470852-1570-4438-9E39-C6A9555BA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4315" y="5438775"/>
            <a:ext cx="295846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Load and protection behavior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EED0F88-1B83-4F0E-ABE8-8B5E402D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4230" y="5438775"/>
            <a:ext cx="366522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Latency, errors, scaling changes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55098A0-0566-40B6-836E-96FA4294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Backend Architecture Playground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1D8A76B-7A93-4B36-9723-D14C95A0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4579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993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7D6386-7376-4F06-B7A2-9784CF2B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A6B16B-0119-43FB-A927-ABB06CC1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716CC5-C8F9-4F8A-9FFC-B290BCBE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782D8B-871C-49E2-BA1C-30B26CDA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9F1B82-A252-48A6-BCB6-49DB4D43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4A3B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4A3B8"/>
                </a:solidFill>
                <a:latin typeface="Aptos Mono"/>
                <a:ea typeface="Aptos Mono"/>
                <a:cs typeface="Aptos Mono"/>
              </a:rPr>
              <a:t>PHASE BOUNDARY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9E4A17-3571-4152-B925-6B70C446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742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AWS mapping is explicit, but not promoted into the MVP dependency path.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398161-BA5C-4D91-8B4A-FC8F19FA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838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ADR-0008 keeps cloud concerns visible without hiding local architecture feedback behind account setup.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51CBAD-9890-4ED0-B917-358B33F7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6477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BAA451-BBFC-4DF1-8310-54B2C186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72034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A44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2A73C3-1A67-496D-A088-114E884D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254889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4A3B8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94A3B8"/>
                </a:solidFill>
                <a:latin typeface="Aptos Mono"/>
                <a:ea typeface="Aptos Mono"/>
                <a:cs typeface="Aptos Mono"/>
              </a:rPr>
              <a:t>Local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D02913-FF33-4166-977E-AE47D056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9940" y="2000250"/>
            <a:ext cx="375666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A44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99319D-A591-40A8-A758-60B4DEA1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4240" y="2095500"/>
            <a:ext cx="358521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4A3B8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94A3B8"/>
                </a:solidFill>
                <a:latin typeface="Aptos Mono"/>
                <a:ea typeface="Aptos Mono"/>
                <a:cs typeface="Aptos Mono"/>
              </a:rPr>
              <a:t>Later AWS candidate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B07CEB-C57C-4935-959E-30485D22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86025"/>
            <a:ext cx="254889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HAProxy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2D453F-5299-42C8-8B87-48961765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4240" y="2486025"/>
            <a:ext cx="358521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Application Load Balancer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AD7678-8435-45C3-8AD3-2FF9AA0F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86075"/>
            <a:ext cx="254889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API / outbox / worker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E3BE4D-4DC3-45A9-9D09-AEE2D7B4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4240" y="2886075"/>
            <a:ext cx="358521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ECS/Fargate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07F65F-CC59-4EF1-8874-43C34930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86125"/>
            <a:ext cx="254889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Container images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7DDEF7-B967-460F-A4D5-5315BD4C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4240" y="3286125"/>
            <a:ext cx="358521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ECR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7389D3-C33B-4896-B167-A736DCAEE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86175"/>
            <a:ext cx="254889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Postgres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507BB8-2EEC-47CC-AACD-CF5E425C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4240" y="3686175"/>
            <a:ext cx="358521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RDS PostgreSQL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D7BE5C-4E2D-47DB-9F87-7F2642E9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254889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PgBouncer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02B3A2-AA51-47EA-ABEA-B63C01F76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4240" y="4086225"/>
            <a:ext cx="358521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ECS service or RDS Proxy evaluation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E69E40-6A40-4662-9B84-1ECAA1D0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86275"/>
            <a:ext cx="254889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Redis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7CBC28-F2BF-4565-9B71-5CA370D8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4240" y="4486275"/>
            <a:ext cx="358521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ElastiCache for Redis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AB5CA9-A394-41EB-9E7C-FD2DC390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86325"/>
            <a:ext cx="254889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RabbitMQ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204AA0-A2BE-4FE3-A5FF-E65D5A2D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4240" y="4886325"/>
            <a:ext cx="358521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Amazon MQ for RabbitMQ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135F4D-A5D2-45FA-87E8-4B91AD98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254889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Prometheus/Grafana/logs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FDB175-C980-42C7-8A81-FF0BA390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4240" y="5286375"/>
            <a:ext cx="358521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CloudWatch plus observability decision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ADB748-A0EC-4570-A59A-E86E0CF62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86425"/>
            <a:ext cx="254889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Secrets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A2CBD3-5118-4F65-8C82-2FBFA15D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4240" y="5686425"/>
            <a:ext cx="358521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Secrets Manager or SSM Parameter Store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8AD0FD-6665-46C4-8D54-96F69BB8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247900"/>
            <a:ext cx="3238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7E53E3-1068-4DDA-8A9B-1580C104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247900"/>
            <a:ext cx="57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F00FCC-7550-4660-82E0-79A02329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43840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Promotion gate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26DCA3-4728-4EEE-B47C-00D8C8D3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762250"/>
            <a:ext cx="28384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AWS phase must include infrastructure-as-code, cost guardrails, teardown commands, IAM/VPC/security group review, and CloudWatch checks.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CD477A-83BA-4AAF-9A58-BF066D10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95750"/>
            <a:ext cx="3238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326042-3952-4AA2-BA3B-D87F6884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95750"/>
            <a:ext cx="57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71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4BFCAD6-21C7-41C8-A342-7CAAB817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28625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Why not now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6E6FBC4-BCFA-495F-B8BE-F276AC15E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610100"/>
            <a:ext cx="2838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MVP should prove behavior locally first. Free Tier terms, quotas, and account setup are not stable acceptance criteria.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9075351-66B3-4C03-A3E7-38181D9F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Backend Architecture Playground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8A910C1-31F4-420D-892E-1A24024F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4579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1739291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B9A621-851C-4544-8FD6-02A73319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4914F8-E91C-4AA1-869E-8D742626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47A062-9C2C-4B32-B3A4-490BF5A9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AEC5AE-E840-4225-A9A1-BABF5B4A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F48196-1B68-4E4B-B87D-F0A430B9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4A3B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4A3B8"/>
                </a:solidFill>
                <a:latin typeface="Aptos Mono"/>
                <a:ea typeface="Aptos Mono"/>
                <a:cs typeface="Aptos Mono"/>
              </a:rPr>
              <a:t>OPERATING RULE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23DA9D-E5CD-4A32-8E51-BD59C77F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742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New backend strategies must earn their place with a workflow and a verification signal.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30BD43-1560-4F02-B187-6398482E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838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The playground should grow by adding measurable backend behaviors, not decorative enterprise buzzwords.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83B909-32AE-496B-AA38-35048DE6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952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CB443A-0D8C-4289-BAE3-ED05BA5D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09DDC8-23DF-4AAD-8F88-897C588E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255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Add only when needed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E5F9EF-C918-4C66-BD7A-8EC690FB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25527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 new service or pattern should cover a real scaling, resilience, security, or operability gap.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32A52C-1B66-4804-94C2-B43D08B4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95500"/>
            <a:ext cx="2952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346BA5-5842-4506-8925-FCCFB8D5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955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F9A962-0293-4278-A4F3-6931DCB1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86000"/>
            <a:ext cx="255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Document the decision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2E9EA5-9712-4A7B-B33D-98C777E6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09850"/>
            <a:ext cx="25527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Update the owning guide, ADR notes, commands, ports, and tradeoffs in the same change.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4275EF-DE07-4D3F-8EDB-6EF27F25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95500"/>
            <a:ext cx="2952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C16E7C-0E18-4FBF-BC21-0029AF81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955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C0DE6A-C611-4F3D-A62C-F7482913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86000"/>
            <a:ext cx="255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Prove it works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DE9CF3-167A-4C16-B7E5-C8EAE7BE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09850"/>
            <a:ext cx="25527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Add an integration test, load scenario, metric, or explicit manual check.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6851C7-9AE5-46D0-A70E-AB74EA7A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9620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8B7F5D-29FB-4902-83FD-31B11A96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327088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A44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36C564-0098-4ED4-86A1-41C26A40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62450"/>
            <a:ext cx="309943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4A3B8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94A3B8"/>
                </a:solidFill>
                <a:latin typeface="Aptos Mono"/>
                <a:ea typeface="Aptos Mono"/>
                <a:cs typeface="Aptos Mono"/>
              </a:rPr>
              <a:t>Change type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F30D44-02B9-46A9-8F09-2C15C843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285" y="4267200"/>
            <a:ext cx="634936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A44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992C2A-748A-4A3C-8622-8D0831A2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9585" y="4362450"/>
            <a:ext cx="617791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4A3B8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94A3B8"/>
                </a:solidFill>
                <a:latin typeface="Aptos Mono"/>
                <a:ea typeface="Aptos Mono"/>
                <a:cs typeface="Aptos Mono"/>
              </a:rPr>
              <a:t>Required follow-through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FF8B09-8054-4ED6-9ECB-4B2D76FD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52975"/>
            <a:ext cx="309943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Schema change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179DEC-A374-4A7C-B9C2-5730FF87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9585" y="4752975"/>
            <a:ext cx="617791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new migration, tests, database guide update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834DEF-FD53-466C-B5A6-ED4CF379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53025"/>
            <a:ext cx="309943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Service change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9DD0F4-D72E-4BCF-9F08-6A40BDA8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9585" y="5153025"/>
            <a:ext cx="617791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Compose, stack summary, deployment guide, readiness checks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8D5913-5278-431C-9431-5E7239080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53075"/>
            <a:ext cx="309943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Architecture change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39EF39-D3E6-4F66-9A97-25D52C58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9585" y="5553075"/>
            <a:ext cx="617791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ADR update, deck update, verification path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540003-4F18-4A65-AF44-14E08FA9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953125"/>
            <a:ext cx="309943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Version/dependency update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6202D4-2784-4DB4-8956-9E52A30C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9585" y="5953125"/>
            <a:ext cx="617791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lockfile refresh, typecheck, lint, integration tests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220C9A-0619-43D0-AC5A-2CEC5320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865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Backend Architecture Playground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36CA30-25EA-4312-8603-9607FE15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4579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740460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2026-05-12T02:21:00.0780000Z</dcterms:created>
  <dcterms:modified xsi:type="dcterms:W3CDTF">2026-05-12T02:21:00.0780000Z</dcterms:modified>
</coreProperties>
</file>